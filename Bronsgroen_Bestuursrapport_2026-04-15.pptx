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Totaal kapitaal (€)</c:v>
                </c:pt>
              </c:strCache>
            </c:strRef>
          </c:tx>
          <c:spPr>
            <a:solidFill>
              <a:srgbClr val="0F8843"/>
            </a:solidFill>
            <a:ln w="38100" cap="flat">
              <a:solidFill>
                <a:srgbClr val="0F884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A2E1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8843"/>
              </a:solidFill>
              <a:ln w="9525" cap="flat">
                <a:solidFill>
                  <a:srgbClr val="0F884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04/25</c:v>
                  </c:pt>
                  <c:pt idx="1">
                    <c:v>05/25</c:v>
                  </c:pt>
                  <c:pt idx="2">
                    <c:v>06/25</c:v>
                  </c:pt>
                  <c:pt idx="3">
                    <c:v>07/25</c:v>
                  </c:pt>
                  <c:pt idx="4">
                    <c:v>08/25</c:v>
                  </c:pt>
                  <c:pt idx="5">
                    <c:v>09/25</c:v>
                  </c:pt>
                  <c:pt idx="6">
                    <c:v>10/25</c:v>
                  </c:pt>
                  <c:pt idx="7">
                    <c:v>11/25</c:v>
                  </c:pt>
                  <c:pt idx="8">
                    <c:v>12/25</c:v>
                  </c:pt>
                  <c:pt idx="9">
                    <c:v>01/26</c:v>
                  </c:pt>
                  <c:pt idx="10">
                    <c:v>02/26</c:v>
                  </c:pt>
                  <c:pt idx="11">
                    <c:v>03/26</c:v>
                  </c:pt>
                  <c:pt idx="12">
                    <c:v>04/26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957750</c:v>
                </c:pt>
                <c:pt idx="1">
                  <c:v>961250</c:v>
                </c:pt>
                <c:pt idx="2">
                  <c:v>979625</c:v>
                </c:pt>
                <c:pt idx="3">
                  <c:v>985000</c:v>
                </c:pt>
                <c:pt idx="4">
                  <c:v>983750</c:v>
                </c:pt>
                <c:pt idx="5">
                  <c:v>1002625</c:v>
                </c:pt>
                <c:pt idx="6">
                  <c:v>1004375</c:v>
                </c:pt>
                <c:pt idx="7">
                  <c:v>1005875</c:v>
                </c:pt>
                <c:pt idx="8">
                  <c:v>1006500</c:v>
                </c:pt>
                <c:pt idx="9">
                  <c:v>1006500</c:v>
                </c:pt>
                <c:pt idx="10">
                  <c:v>1005250</c:v>
                </c:pt>
                <c:pt idx="11">
                  <c:v>1012250</c:v>
                </c:pt>
                <c:pt idx="12">
                  <c:v>1009000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A2E1F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12191695" cy="73152"/>
          </a:xfrm>
          <a:prstGeom prst="rect">
            <a:avLst/>
          </a:prstGeom>
          <a:solidFill>
            <a:srgbClr val="0F8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Campagne- &amp; Groeirapport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Lentecampagne 2026, €1M-mijlpaal in de pers, en transactie-impact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F8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BESTUURSVERGADERING  ·  15 APRIL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5943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Opgesteld door Wouter Hermans  ·  Bronsgroen CV  ·  Hasselt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884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BRONSGROEN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137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Bestuursvergadering 15/04/2026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Samenvatting in één oogopslag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 weken campagnes, media en kapitaalgroei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26974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14884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F8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758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65760" y="297180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aandeelhouders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2011680"/>
            <a:ext cx="26974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214884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€1,01M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246120" y="297180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totaal kapitaal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2011680"/>
            <a:ext cx="26974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214884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8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12/18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126480" y="297180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aankopen via e-mail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(laatste 6 weken)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06840" y="2011680"/>
            <a:ext cx="26974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06840" y="214884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F8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€10.375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9006840" y="297180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opbrengst via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e-mailcampagnes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4023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Drie vaststellingen voor het bestuur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57200" y="4526280"/>
            <a:ext cx="457200" cy="457200"/>
          </a:xfrm>
          <a:prstGeom prst="ellipse">
            <a:avLst/>
          </a:prstGeom>
          <a:solidFill>
            <a:srgbClr val="0F8843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526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97280" y="448056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is het dominante acquisitiekanaal: 90% van de betaalde opbrengst in maart-april komt van klikkers in onze nieuwsbrieven.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5148072"/>
            <a:ext cx="457200" cy="457200"/>
          </a:xfrm>
          <a:prstGeom prst="ellipse">
            <a:avLst/>
          </a:prstGeom>
          <a:solidFill>
            <a:srgbClr val="0F8843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5148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097280" y="510235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persbericht over €1M kapitaal (10/04) en het HBVL-artikel (13/04) vielen samen met de grootste week in conversies ooit: 11 aankopen in 6 dagen.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5769864"/>
            <a:ext cx="457200" cy="457200"/>
          </a:xfrm>
          <a:prstGeom prst="ellipse">
            <a:avLst/>
          </a:prstGeom>
          <a:solidFill>
            <a:srgbClr val="0F8843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5769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97280" y="5724144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Lentecampagne E1-Upsell naar coöperanten is de kampioen: 5 aankopen voor €2.750, allemaal betaald binnen 72 uur.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Bronsgroen CV · Bestuursvergadering 15/04/2026 · Pagina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884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BRONSGROEN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137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Bestuursvergadering 15/04/2026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E-mailcampagnes: prestaties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Verzonden via Brevo (e-mailmarketingplatform) — 6 campagnes, maart-april 2026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011680"/>
          <a:ext cx="1143000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914400"/>
                <a:gridCol w="1097280"/>
                <a:gridCol w="1097280"/>
                <a:gridCol w="1097280"/>
                <a:gridCol w="1188720"/>
                <a:gridCol w="22860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Campagne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88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884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Bezorgd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884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884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884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Aankopen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884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884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Newsletter 2026_01 (Coöperanten)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78,3%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€2.250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Newsletter 2026_01 (Sympathisanten)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12/03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57,4%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€5.000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Testimonial Collection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17/03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51,6%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Newsletter 2026_02 — AV save date (C)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24/03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54,9%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Lentecampagne E1 Upsell (C)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09/04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€2.750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Lentecampagne E1 Acquisitie (S)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11/04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49,2%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Webinar 1B Prospects (S)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14/04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65760" y="56692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rate = % ontvangers dat e-mail opent · CTR = % dat op een link klikt. Gemiddelde open rate 58,6% ligt 2-3x boven industriebenchmark (~21%). Vertrouwen en merkherkenning zijn hoog.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65760" y="6172200"/>
            <a:ext cx="73152" cy="274320"/>
          </a:xfrm>
          <a:prstGeom prst="rect">
            <a:avLst/>
          </a:prstGeom>
          <a:solidFill>
            <a:srgbClr val="E8813A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6153912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NL 2026_01 (C) had 40 hard bounces (5,6%) — lijst-hygiëne checken.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Bronsgroen CV · Bestuursvergadering 15/04/2026 · Pagina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884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BRONSGROEN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137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Bestuursvergadering 15/04/2026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Welke campagnes brachten echte aankopen?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Attributie op basis van klikgedrag vóór registratie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Toegerekende aankopen per campagne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Lente E1 Upsell (C)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2587752"/>
            <a:ext cx="2286000" cy="274320"/>
          </a:xfrm>
          <a:prstGeom prst="rect">
            <a:avLst/>
          </a:prstGeom>
          <a:solidFill>
            <a:srgbClr val="0F8843"/>
          </a:solidFill>
          <a:ln/>
        </p:spPr>
      </p:sp>
      <p:sp>
        <p:nvSpPr>
          <p:cNvPr id="10" name="Text 8"/>
          <p:cNvSpPr/>
          <p:nvPr/>
        </p:nvSpPr>
        <p:spPr>
          <a:xfrm>
            <a:off x="5623560" y="2560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reg  ·  €2.750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0175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2026_01 (C)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3090672"/>
            <a:ext cx="1371600" cy="274320"/>
          </a:xfrm>
          <a:prstGeom prst="rect">
            <a:avLst/>
          </a:prstGeom>
          <a:solidFill>
            <a:srgbClr val="0F8843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3063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reg  ·  €2.250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35204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Lente E1 Acquisitie (S)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0" y="3593592"/>
            <a:ext cx="914400" cy="274320"/>
          </a:xfrm>
          <a:prstGeom prst="rect">
            <a:avLst/>
          </a:prstGeom>
          <a:solidFill>
            <a:srgbClr val="E8813A"/>
          </a:solidFill>
          <a:ln/>
        </p:spPr>
      </p:sp>
      <p:sp>
        <p:nvSpPr>
          <p:cNvPr id="16" name="Text 14"/>
          <p:cNvSpPr/>
          <p:nvPr/>
        </p:nvSpPr>
        <p:spPr>
          <a:xfrm>
            <a:off x="4251960" y="3566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reg  ·  €250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0233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2026_01 (S)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0" y="4096512"/>
            <a:ext cx="457200" cy="274320"/>
          </a:xfrm>
          <a:prstGeom prst="rect">
            <a:avLst/>
          </a:prstGeom>
          <a:solidFill>
            <a:srgbClr val="E8813A"/>
          </a:solidFill>
          <a:ln/>
        </p:spPr>
      </p:sp>
      <p:sp>
        <p:nvSpPr>
          <p:cNvPr id="19" name="Text 17"/>
          <p:cNvSpPr/>
          <p:nvPr/>
        </p:nvSpPr>
        <p:spPr>
          <a:xfrm>
            <a:off x="3794760" y="4069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reg  ·  €5.000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5262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Webinar 1B Prospects (S)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0" y="4599432"/>
            <a:ext cx="457200" cy="274320"/>
          </a:xfrm>
          <a:prstGeom prst="rect">
            <a:avLst/>
          </a:prstGeom>
          <a:solidFill>
            <a:srgbClr val="E8813A"/>
          </a:solidFill>
          <a:ln/>
        </p:spPr>
      </p:sp>
      <p:sp>
        <p:nvSpPr>
          <p:cNvPr id="22" name="Text 20"/>
          <p:cNvSpPr/>
          <p:nvPr/>
        </p:nvSpPr>
        <p:spPr>
          <a:xfrm>
            <a:off x="3794760" y="4572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reg  ·  €125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50292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attributie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0" y="5102352"/>
            <a:ext cx="2743200" cy="27432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5" name="Text 23"/>
          <p:cNvSpPr/>
          <p:nvPr/>
        </p:nvSpPr>
        <p:spPr>
          <a:xfrm>
            <a:off x="6080760" y="5074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reg  ·  €9.000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15200" y="2011680"/>
            <a:ext cx="4480560" cy="4206240"/>
          </a:xfrm>
          <a:prstGeom prst="roundRect">
            <a:avLst>
              <a:gd name="adj" fmla="val 2174"/>
            </a:avLst>
          </a:prstGeom>
          <a:solidFill>
            <a:srgbClr val="0A2E1F"/>
          </a:solidFill>
          <a:ln w="12700">
            <a:solidFill>
              <a:srgbClr val="0A2E1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0" y="2148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8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KERNBOODSCHAP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98080" y="242316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E-mail drijft de aankopen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7498080" y="3319272"/>
            <a:ext cx="137160" cy="137160"/>
          </a:xfrm>
          <a:prstGeom prst="ellipse">
            <a:avLst/>
          </a:prstGeom>
          <a:solidFill>
            <a:srgbClr val="0F8843"/>
          </a:solidFill>
          <a:ln/>
        </p:spPr>
      </p:sp>
      <p:sp>
        <p:nvSpPr>
          <p:cNvPr id="30" name="Text 28"/>
          <p:cNvSpPr/>
          <p:nvPr/>
        </p:nvSpPr>
        <p:spPr>
          <a:xfrm>
            <a:off x="7726680" y="324612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van 18 aankopen (67%) koppelen aan een klik in een nieuwsbrief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498080" y="4005072"/>
            <a:ext cx="137160" cy="137160"/>
          </a:xfrm>
          <a:prstGeom prst="ellipse">
            <a:avLst/>
          </a:prstGeom>
          <a:solidFill>
            <a:srgbClr val="0F8843"/>
          </a:solidFill>
          <a:ln/>
        </p:spPr>
      </p:sp>
      <p:sp>
        <p:nvSpPr>
          <p:cNvPr id="32" name="Text 30"/>
          <p:cNvSpPr/>
          <p:nvPr/>
        </p:nvSpPr>
        <p:spPr>
          <a:xfrm>
            <a:off x="7726680" y="393192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 van toegeschreven aankopen zijn betaald (€10.375)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498080" y="4690872"/>
            <a:ext cx="137160" cy="137160"/>
          </a:xfrm>
          <a:prstGeom prst="ellipse">
            <a:avLst/>
          </a:prstGeom>
          <a:solidFill>
            <a:srgbClr val="0F8843"/>
          </a:solidFill>
          <a:ln/>
        </p:spPr>
      </p:sp>
      <p:sp>
        <p:nvSpPr>
          <p:cNvPr id="34" name="Text 32"/>
          <p:cNvSpPr/>
          <p:nvPr/>
        </p:nvSpPr>
        <p:spPr>
          <a:xfrm>
            <a:off x="7726680" y="461772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aankopen buiten e-mail: directe dashboard-login, mond-aan-mond, pers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498080" y="5376672"/>
            <a:ext cx="137160" cy="137160"/>
          </a:xfrm>
          <a:prstGeom prst="ellipse">
            <a:avLst/>
          </a:prstGeom>
          <a:solidFill>
            <a:srgbClr val="0F8843"/>
          </a:solidFill>
          <a:ln/>
        </p:spPr>
      </p:sp>
      <p:sp>
        <p:nvSpPr>
          <p:cNvPr id="36" name="Text 34"/>
          <p:cNvSpPr/>
          <p:nvPr/>
        </p:nvSpPr>
        <p:spPr>
          <a:xfrm>
            <a:off x="7726680" y="530352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meeste aankopen gebeuren op dezelfde dag als de klik — snel beslissen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Bronsgroen CV · Bestuursvergadering 15/04/2026 · Pagina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884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BRONSGROEN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137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Bestuursvergadering 15/04/2026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Tijdlijn april 2026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Campagnes, pers en aankopen op dezelfde as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114800"/>
            <a:ext cx="11064240" cy="3657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8" name="Shape 6"/>
          <p:cNvSpPr/>
          <p:nvPr/>
        </p:nvSpPr>
        <p:spPr>
          <a:xfrm>
            <a:off x="493776" y="4069080"/>
            <a:ext cx="128016" cy="128016"/>
          </a:xfrm>
          <a:prstGeom prst="ellipse">
            <a:avLst/>
          </a:prstGeom>
          <a:solidFill>
            <a:srgbClr val="0A2E1F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251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04/04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00200" y="4069080"/>
            <a:ext cx="128016" cy="128016"/>
          </a:xfrm>
          <a:prstGeom prst="ellipse">
            <a:avLst/>
          </a:prstGeom>
          <a:solidFill>
            <a:srgbClr val="0A2E1F"/>
          </a:solidFill>
          <a:ln/>
        </p:spPr>
      </p:sp>
      <p:sp>
        <p:nvSpPr>
          <p:cNvPr id="11" name="Text 9"/>
          <p:cNvSpPr/>
          <p:nvPr/>
        </p:nvSpPr>
        <p:spPr>
          <a:xfrm>
            <a:off x="1289304" y="4251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05/04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06624" y="4069080"/>
            <a:ext cx="128016" cy="128016"/>
          </a:xfrm>
          <a:prstGeom prst="ellipse">
            <a:avLst/>
          </a:prstGeom>
          <a:solidFill>
            <a:srgbClr val="0A2E1F"/>
          </a:solidFill>
          <a:ln/>
        </p:spPr>
      </p:sp>
      <p:sp>
        <p:nvSpPr>
          <p:cNvPr id="13" name="Text 11"/>
          <p:cNvSpPr/>
          <p:nvPr/>
        </p:nvSpPr>
        <p:spPr>
          <a:xfrm>
            <a:off x="2395728" y="4251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06/04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13048" y="4069080"/>
            <a:ext cx="128016" cy="128016"/>
          </a:xfrm>
          <a:prstGeom prst="ellipse">
            <a:avLst/>
          </a:prstGeom>
          <a:solidFill>
            <a:srgbClr val="0A2E1F"/>
          </a:solidFill>
          <a:ln/>
        </p:spPr>
      </p:sp>
      <p:sp>
        <p:nvSpPr>
          <p:cNvPr id="15" name="Text 13"/>
          <p:cNvSpPr/>
          <p:nvPr/>
        </p:nvSpPr>
        <p:spPr>
          <a:xfrm>
            <a:off x="3502152" y="4251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07/04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919472" y="4069080"/>
            <a:ext cx="128016" cy="128016"/>
          </a:xfrm>
          <a:prstGeom prst="ellipse">
            <a:avLst/>
          </a:prstGeom>
          <a:solidFill>
            <a:srgbClr val="0A2E1F"/>
          </a:solidFill>
          <a:ln/>
        </p:spPr>
      </p:sp>
      <p:sp>
        <p:nvSpPr>
          <p:cNvPr id="17" name="Text 15"/>
          <p:cNvSpPr/>
          <p:nvPr/>
        </p:nvSpPr>
        <p:spPr>
          <a:xfrm>
            <a:off x="4608576" y="4251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08/04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25896" y="4069080"/>
            <a:ext cx="128016" cy="128016"/>
          </a:xfrm>
          <a:prstGeom prst="ellipse">
            <a:avLst/>
          </a:prstGeom>
          <a:solidFill>
            <a:srgbClr val="0A2E1F"/>
          </a:solidFill>
          <a:ln/>
        </p:spPr>
      </p:sp>
      <p:sp>
        <p:nvSpPr>
          <p:cNvPr id="19" name="Text 17"/>
          <p:cNvSpPr/>
          <p:nvPr/>
        </p:nvSpPr>
        <p:spPr>
          <a:xfrm>
            <a:off x="5715000" y="4251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09/04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132320" y="4069080"/>
            <a:ext cx="128016" cy="128016"/>
          </a:xfrm>
          <a:prstGeom prst="ellipse">
            <a:avLst/>
          </a:prstGeom>
          <a:solidFill>
            <a:srgbClr val="0A2E1F"/>
          </a:solidFill>
          <a:ln/>
        </p:spPr>
      </p:sp>
      <p:sp>
        <p:nvSpPr>
          <p:cNvPr id="21" name="Text 19"/>
          <p:cNvSpPr/>
          <p:nvPr/>
        </p:nvSpPr>
        <p:spPr>
          <a:xfrm>
            <a:off x="6821424" y="4251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10/04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238744" y="4069080"/>
            <a:ext cx="128016" cy="128016"/>
          </a:xfrm>
          <a:prstGeom prst="ellipse">
            <a:avLst/>
          </a:prstGeom>
          <a:solidFill>
            <a:srgbClr val="0A2E1F"/>
          </a:solidFill>
          <a:ln/>
        </p:spPr>
      </p:sp>
      <p:sp>
        <p:nvSpPr>
          <p:cNvPr id="23" name="Text 21"/>
          <p:cNvSpPr/>
          <p:nvPr/>
        </p:nvSpPr>
        <p:spPr>
          <a:xfrm>
            <a:off x="7927848" y="4251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11/04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345168" y="4069080"/>
            <a:ext cx="128016" cy="128016"/>
          </a:xfrm>
          <a:prstGeom prst="ellipse">
            <a:avLst/>
          </a:prstGeom>
          <a:solidFill>
            <a:srgbClr val="0A2E1F"/>
          </a:solidFill>
          <a:ln/>
        </p:spPr>
      </p:sp>
      <p:sp>
        <p:nvSpPr>
          <p:cNvPr id="25" name="Text 23"/>
          <p:cNvSpPr/>
          <p:nvPr/>
        </p:nvSpPr>
        <p:spPr>
          <a:xfrm>
            <a:off x="9034272" y="4251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12/04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451592" y="4069080"/>
            <a:ext cx="128016" cy="128016"/>
          </a:xfrm>
          <a:prstGeom prst="ellipse">
            <a:avLst/>
          </a:prstGeom>
          <a:solidFill>
            <a:srgbClr val="0A2E1F"/>
          </a:solidFill>
          <a:ln/>
        </p:spPr>
      </p:sp>
      <p:sp>
        <p:nvSpPr>
          <p:cNvPr id="27" name="Text 25"/>
          <p:cNvSpPr/>
          <p:nvPr/>
        </p:nvSpPr>
        <p:spPr>
          <a:xfrm>
            <a:off x="10140696" y="4251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13/04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1558016" y="4069080"/>
            <a:ext cx="128016" cy="128016"/>
          </a:xfrm>
          <a:prstGeom prst="ellipse">
            <a:avLst/>
          </a:prstGeom>
          <a:solidFill>
            <a:srgbClr val="0A2E1F"/>
          </a:solidFill>
          <a:ln/>
        </p:spPr>
      </p:sp>
      <p:sp>
        <p:nvSpPr>
          <p:cNvPr id="29" name="Text 27"/>
          <p:cNvSpPr/>
          <p:nvPr/>
        </p:nvSpPr>
        <p:spPr>
          <a:xfrm>
            <a:off x="11247120" y="4251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14/04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80760" y="3017520"/>
            <a:ext cx="0" cy="1097280"/>
          </a:xfrm>
          <a:prstGeom prst="line">
            <a:avLst/>
          </a:prstGeom>
          <a:noFill/>
          <a:ln w="19050">
            <a:solidFill>
              <a:srgbClr val="0F8843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5212080" y="2743200"/>
            <a:ext cx="1737360" cy="365760"/>
          </a:xfrm>
          <a:prstGeom prst="roundRect">
            <a:avLst>
              <a:gd name="adj" fmla="val 12500"/>
            </a:avLst>
          </a:prstGeom>
          <a:solidFill>
            <a:srgbClr val="0F8843"/>
          </a:solidFill>
          <a:ln/>
        </p:spPr>
      </p:sp>
      <p:sp>
        <p:nvSpPr>
          <p:cNvPr id="32" name="Text 30"/>
          <p:cNvSpPr/>
          <p:nvPr/>
        </p:nvSpPr>
        <p:spPr>
          <a:xfrm>
            <a:off x="5212080" y="27432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Lente E1 Upsell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187184" y="2468880"/>
            <a:ext cx="0" cy="1645920"/>
          </a:xfrm>
          <a:prstGeom prst="line">
            <a:avLst/>
          </a:prstGeom>
          <a:noFill/>
          <a:ln w="19050">
            <a:solidFill>
              <a:srgbClr val="E8813A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318504" y="2194560"/>
            <a:ext cx="1737360" cy="365760"/>
          </a:xfrm>
          <a:prstGeom prst="roundRect">
            <a:avLst>
              <a:gd name="adj" fmla="val 12500"/>
            </a:avLst>
          </a:prstGeom>
          <a:solidFill>
            <a:srgbClr val="E8813A"/>
          </a:solidFill>
          <a:ln/>
        </p:spPr>
      </p:sp>
      <p:sp>
        <p:nvSpPr>
          <p:cNvPr id="35" name="Text 33"/>
          <p:cNvSpPr/>
          <p:nvPr/>
        </p:nvSpPr>
        <p:spPr>
          <a:xfrm>
            <a:off x="6318504" y="21945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Persbericht €1M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293608" y="3017520"/>
            <a:ext cx="0" cy="1097280"/>
          </a:xfrm>
          <a:prstGeom prst="line">
            <a:avLst/>
          </a:prstGeom>
          <a:noFill/>
          <a:ln w="19050">
            <a:solidFill>
              <a:srgbClr val="0F8843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7424928" y="2743200"/>
            <a:ext cx="1737360" cy="365760"/>
          </a:xfrm>
          <a:prstGeom prst="roundRect">
            <a:avLst>
              <a:gd name="adj" fmla="val 12500"/>
            </a:avLst>
          </a:prstGeom>
          <a:solidFill>
            <a:srgbClr val="0F8843"/>
          </a:solidFill>
          <a:ln/>
        </p:spPr>
      </p:sp>
      <p:sp>
        <p:nvSpPr>
          <p:cNvPr id="38" name="Text 36"/>
          <p:cNvSpPr/>
          <p:nvPr/>
        </p:nvSpPr>
        <p:spPr>
          <a:xfrm>
            <a:off x="7424928" y="27432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Lente E1 Acquisitie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0506456" y="2468880"/>
            <a:ext cx="0" cy="1645920"/>
          </a:xfrm>
          <a:prstGeom prst="line">
            <a:avLst/>
          </a:prstGeom>
          <a:noFill/>
          <a:ln w="19050">
            <a:solidFill>
              <a:srgbClr val="E8813A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9637776" y="2194560"/>
            <a:ext cx="1737360" cy="365760"/>
          </a:xfrm>
          <a:prstGeom prst="roundRect">
            <a:avLst>
              <a:gd name="adj" fmla="val 12500"/>
            </a:avLst>
          </a:prstGeom>
          <a:solidFill>
            <a:srgbClr val="E8813A"/>
          </a:solidFill>
          <a:ln/>
        </p:spPr>
      </p:sp>
      <p:sp>
        <p:nvSpPr>
          <p:cNvPr id="41" name="Text 39"/>
          <p:cNvSpPr/>
          <p:nvPr/>
        </p:nvSpPr>
        <p:spPr>
          <a:xfrm>
            <a:off x="9637776" y="21945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HBVL artikel (23u)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1612880" y="3017520"/>
            <a:ext cx="0" cy="1097280"/>
          </a:xfrm>
          <a:prstGeom prst="line">
            <a:avLst/>
          </a:prstGeom>
          <a:noFill/>
          <a:ln w="19050">
            <a:solidFill>
              <a:srgbClr val="0F8843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10744200" y="2743200"/>
            <a:ext cx="1737360" cy="365760"/>
          </a:xfrm>
          <a:prstGeom prst="roundRect">
            <a:avLst>
              <a:gd name="adj" fmla="val 12500"/>
            </a:avLst>
          </a:prstGeom>
          <a:solidFill>
            <a:srgbClr val="0F8843"/>
          </a:solidFill>
          <a:ln/>
        </p:spPr>
      </p:sp>
      <p:sp>
        <p:nvSpPr>
          <p:cNvPr id="44" name="Text 42"/>
          <p:cNvSpPr/>
          <p:nvPr/>
        </p:nvSpPr>
        <p:spPr>
          <a:xfrm>
            <a:off x="10744200" y="27432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Webinar uitnodigingen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897880" y="4663440"/>
            <a:ext cx="365760" cy="960120"/>
          </a:xfrm>
          <a:prstGeom prst="rect">
            <a:avLst/>
          </a:prstGeom>
          <a:solidFill>
            <a:srgbClr val="0F8843"/>
          </a:solidFill>
          <a:ln/>
        </p:spPr>
      </p:sp>
      <p:sp>
        <p:nvSpPr>
          <p:cNvPr id="46" name="Text 44"/>
          <p:cNvSpPr/>
          <p:nvPr/>
        </p:nvSpPr>
        <p:spPr>
          <a:xfrm>
            <a:off x="5852160" y="56235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004304" y="4663440"/>
            <a:ext cx="365760" cy="320040"/>
          </a:xfrm>
          <a:prstGeom prst="rect">
            <a:avLst/>
          </a:prstGeom>
          <a:solidFill>
            <a:srgbClr val="0F8843"/>
          </a:solidFill>
          <a:ln/>
        </p:spPr>
      </p:sp>
      <p:sp>
        <p:nvSpPr>
          <p:cNvPr id="48" name="Text 46"/>
          <p:cNvSpPr/>
          <p:nvPr/>
        </p:nvSpPr>
        <p:spPr>
          <a:xfrm>
            <a:off x="6958584" y="49834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8110728" y="4663440"/>
            <a:ext cx="365760" cy="960120"/>
          </a:xfrm>
          <a:prstGeom prst="rect">
            <a:avLst/>
          </a:prstGeom>
          <a:solidFill>
            <a:srgbClr val="0F8843"/>
          </a:solidFill>
          <a:ln/>
        </p:spPr>
      </p:sp>
      <p:sp>
        <p:nvSpPr>
          <p:cNvPr id="50" name="Text 48"/>
          <p:cNvSpPr/>
          <p:nvPr/>
        </p:nvSpPr>
        <p:spPr>
          <a:xfrm>
            <a:off x="8065008" y="56235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9217152" y="4663440"/>
            <a:ext cx="365760" cy="320040"/>
          </a:xfrm>
          <a:prstGeom prst="rect">
            <a:avLst/>
          </a:prstGeom>
          <a:solidFill>
            <a:srgbClr val="0F8843"/>
          </a:solidFill>
          <a:ln/>
        </p:spPr>
      </p:sp>
      <p:sp>
        <p:nvSpPr>
          <p:cNvPr id="52" name="Text 50"/>
          <p:cNvSpPr/>
          <p:nvPr/>
        </p:nvSpPr>
        <p:spPr>
          <a:xfrm>
            <a:off x="9171432" y="49834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11430000" y="4663440"/>
            <a:ext cx="365760" cy="960120"/>
          </a:xfrm>
          <a:prstGeom prst="rect">
            <a:avLst/>
          </a:prstGeom>
          <a:solidFill>
            <a:srgbClr val="0F8843"/>
          </a:solidFill>
          <a:ln/>
        </p:spPr>
      </p:sp>
      <p:sp>
        <p:nvSpPr>
          <p:cNvPr id="54" name="Text 52"/>
          <p:cNvSpPr/>
          <p:nvPr/>
        </p:nvSpPr>
        <p:spPr>
          <a:xfrm>
            <a:off x="11384280" y="56235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365760" y="5303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AANKOPEN PER DAG →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65760" y="5760720"/>
            <a:ext cx="1143000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E8813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8640" y="58064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9 t/m 14 april: 11 aankopen in 6 dagen. Geen enkel ander interval dit jaar komt in de buurt. De cluster valt samen met E1-verzendingen én persmomenten.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Bronsgroen CV · Bestuursvergadering 15/04/2026 · Pagina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884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BRONSGROEN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137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Bestuursvergadering 15/04/2026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 versus e-mail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kanalen, één piekweek — wat deed wat?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557784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25400">
            <a:solidFill>
              <a:srgbClr val="0F88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488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8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42316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Lentecampagne E1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8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670+390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834640" y="3246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bezorgd aan lijst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7947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8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aankopen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834640" y="3886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toegeschreven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4348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8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€3.000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834640" y="45262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opbrengst attributie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074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8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24u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834640" y="5166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tijd tussen klik en aankoop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2011680"/>
            <a:ext cx="557784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25400">
            <a:solidFill>
              <a:srgbClr val="E881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21488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8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242316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Persbericht → HBVL-artikel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00800" y="3154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8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Vrij 10/04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686800" y="32461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Persbericht €1M-mijlpaal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0" y="37947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8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 13/04 23u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686800" y="3886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HBVL-artikel gepubliceerd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44348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8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aankopen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686800" y="4526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14/04 — eerste werkdag na publicatie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5074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8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€750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686800" y="51663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14/04 (niet in Brevo-lijsten)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6400800"/>
            <a:ext cx="11430000" cy="45720"/>
          </a:xfrm>
          <a:prstGeom prst="rect">
            <a:avLst/>
          </a:prstGeom>
          <a:solidFill>
            <a:srgbClr val="0F8843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Bronsgroen CV · Bestuursvergadering 15/04/2026 · Pagina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884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BRONSGROEN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137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Bestuursvergadering 15/04/2026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zes aankopen buiten e-mail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zijn ze en waar komen ze vandaan?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011680"/>
          <a:ext cx="114300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188720"/>
                <a:gridCol w="3657600"/>
                <a:gridCol w="1371600"/>
                <a:gridCol w="4114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E-mail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Hypothese herkomst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1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14/03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€1.250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jan.vanderborght@gmail.com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BETAALD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Onbekend kanaal — checken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18/03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opencoop.24xgj@passmail.com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BETAALD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Alias — mogelijk bestaand lid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27/03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joan.bertels@telenet.be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BETAALD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Niet in lijst — onderzoeken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14/04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dirkske1963@telenet.be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Waarschijnlijk HBVL-artikel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14/04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janpeumans@gmail.com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BETAALD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Bekend persoon — pers of netwerk?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04/04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€-250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appermont.bram@gmail.com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VERKOOP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Niet-aankoop, verkoop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5212080"/>
            <a:ext cx="11430000" cy="1188720"/>
          </a:xfrm>
          <a:prstGeom prst="roundRect">
            <a:avLst>
              <a:gd name="adj" fmla="val 7692"/>
            </a:avLst>
          </a:prstGeom>
          <a:solidFill>
            <a:srgbClr val="0A2E1F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5349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F8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ACTIEPUNT BESTUUR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562356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of alle actieve coöperanten in de Coöperanten-Brevolijst zitten. Nu mist ca. 33% van de kopers uit e-mailflow — gemiste kansen voor upsell en AV-communicatie.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Bronsgroen CV · Bestuursvergadering 15/04/2026 · Pagina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884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BRONSGROEN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137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Bestuursvergadering 15/04/2026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Kapitaalgroei in perspectief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april 2025 tot vandaag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2011680"/>
          <a:ext cx="112471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539496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54406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Gemiddelde maandgroei (2025-2026)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566928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8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+€4.300 / maand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6217920" y="539496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0" y="54406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tot 14/04 (in 6 dagen piek)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0" y="566928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+€4.000 al binnen — op tempo voor beste maand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Bronsgroen CV · Bestuursvergadering 15/04/2026 · Pagina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884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BRONSGROEN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137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Bestuursvergadering 15/04/2026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Zeven inzichten uit de data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werkt, wat niet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3749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011680"/>
            <a:ext cx="73152" cy="1188720"/>
          </a:xfrm>
          <a:prstGeom prst="rect">
            <a:avLst/>
          </a:prstGeom>
          <a:solidFill>
            <a:srgbClr val="0F884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03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rates 2-3x boven benchmark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46888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58,6% gemiddeld. Vertrouwen is hoog — niet als verworven beschouwen, actief onderhouden.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2011680"/>
            <a:ext cx="3749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2011680"/>
            <a:ext cx="73152" cy="1188720"/>
          </a:xfrm>
          <a:prstGeom prst="rect">
            <a:avLst/>
          </a:prstGeom>
          <a:solidFill>
            <a:srgbClr val="0F8843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2103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NL 2026_01 (C) had een lange staart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80560" y="246888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jomeyers02@ kocht 31 dagen na zijn klik. Sterke e-mails converteren weken later nog.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0" y="2011680"/>
            <a:ext cx="3749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2011680"/>
            <a:ext cx="73152" cy="1188720"/>
          </a:xfrm>
          <a:prstGeom prst="rect">
            <a:avLst/>
          </a:prstGeom>
          <a:solidFill>
            <a:srgbClr val="0F8843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2103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Same-day conversie dominant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12480" y="246888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Meeste E1-aankopen binnen 24u na klik. Verzendtijdstip verdient experiment.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383280"/>
            <a:ext cx="3749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383280"/>
            <a:ext cx="73152" cy="1188720"/>
          </a:xfrm>
          <a:prstGeom prst="rect">
            <a:avLst/>
          </a:prstGeom>
          <a:solidFill>
            <a:srgbClr val="E8813A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474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NL 2026_02 had 0% CTR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384048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"Save the date AV" — puur informatief, geen CTA. Kalenderlink of RSVP-knop toevoegen.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97680" y="3383280"/>
            <a:ext cx="3749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97680" y="3383280"/>
            <a:ext cx="73152" cy="1188720"/>
          </a:xfrm>
          <a:prstGeom prst="rect">
            <a:avLst/>
          </a:prstGeom>
          <a:solidFill>
            <a:srgbClr val="E8813A"/>
          </a:solidFill>
          <a:ln/>
        </p:spPr>
      </p:sp>
      <p:sp>
        <p:nvSpPr>
          <p:cNvPr id="25" name="Text 23"/>
          <p:cNvSpPr/>
          <p:nvPr/>
        </p:nvSpPr>
        <p:spPr>
          <a:xfrm>
            <a:off x="4480560" y="3474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E1 Acquisitie onderpresteerde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480560" y="384048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1,5% CTR en 3 uitschrijvingen op 390. Sympathisanten zijn gevoelig voor "word mede-eigenaar"-toon.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229600" y="3383280"/>
            <a:ext cx="3749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0" y="3383280"/>
            <a:ext cx="73152" cy="118872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9" name="Text 27"/>
          <p:cNvSpPr/>
          <p:nvPr/>
        </p:nvSpPr>
        <p:spPr>
          <a:xfrm>
            <a:off x="8412480" y="3474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 hard bounces op NL 2026_01 (C)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412480" y="384048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5,6% van verzendingen. Ongeldige adressen purgen voor reputatie van afzender.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754880"/>
            <a:ext cx="3749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4754880"/>
            <a:ext cx="73152" cy="118872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4846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Brevo link-tracking geeft 0 via API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8640" y="521208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Klik-per-link enkel zichtbaar via Brevo-dashboard. Check welke CTA's echt werken.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Bronsgroen CV · Bestuursvergadering 15/04/2026 · Pagina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884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BRONSGROEN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137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Bestuursvergadering 15/04/2026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Aanbevelingen voor E2-E5 en mei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stappen, gebaseerd op wat werkte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1371600" cy="868680"/>
          </a:xfrm>
          <a:prstGeom prst="rect">
            <a:avLst/>
          </a:prstGeom>
          <a:solidFill>
            <a:srgbClr val="0A2E1F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10312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8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E2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1737360" y="2103120"/>
            <a:ext cx="10058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214884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Projectfocus Genk-Zuid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920240" y="2514600"/>
            <a:ext cx="9784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Visueel zwaar — renderings en locatiefoto's. Projectspecifieke link met Genk-Zuid vooraf geselecteerd.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154680"/>
            <a:ext cx="1371600" cy="868680"/>
          </a:xfrm>
          <a:prstGeom prst="rect">
            <a:avLst/>
          </a:prstGeom>
          <a:solidFill>
            <a:srgbClr val="0A2E1F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315468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8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E3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1737360" y="3154680"/>
            <a:ext cx="10058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20240" y="320040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 proof + mijlpaal €1M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920240" y="3566160"/>
            <a:ext cx="9784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Echte quotes van testimonial-campagne. "Samen al €1 miljoen opgehaald." Momentum tonen.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4206240"/>
            <a:ext cx="1371600" cy="868680"/>
          </a:xfrm>
          <a:prstGeom prst="rect">
            <a:avLst/>
          </a:prstGeom>
          <a:solidFill>
            <a:srgbClr val="0A2E1F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420624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8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E4</a:t>
            </a:r>
            <a:endParaRPr lang="en-US" sz="3200" dirty="0"/>
          </a:p>
        </p:txBody>
      </p:sp>
      <p:sp>
        <p:nvSpPr>
          <p:cNvPr id="19" name="Shape 17"/>
          <p:cNvSpPr/>
          <p:nvPr/>
        </p:nvSpPr>
        <p:spPr>
          <a:xfrm>
            <a:off x="1737360" y="4206240"/>
            <a:ext cx="10058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20240" y="425196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Herinnering (laatste kans)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920240" y="4617720"/>
            <a:ext cx="9784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Coöperanten: urgentie werkt. Sympathisanten: zachtere variant, de 3 uitschrijvingen op E1 zijn een signaal.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5257800"/>
            <a:ext cx="1371600" cy="868680"/>
          </a:xfrm>
          <a:prstGeom prst="rect">
            <a:avLst/>
          </a:prstGeom>
          <a:solidFill>
            <a:srgbClr val="0A2E1F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525780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8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E5</a:t>
            </a:r>
            <a:endParaRPr lang="en-US" sz="3200" dirty="0"/>
          </a:p>
        </p:txBody>
      </p:sp>
      <p:sp>
        <p:nvSpPr>
          <p:cNvPr id="24" name="Shape 22"/>
          <p:cNvSpPr/>
          <p:nvPr/>
        </p:nvSpPr>
        <p:spPr>
          <a:xfrm>
            <a:off x="1737360" y="5257800"/>
            <a:ext cx="10058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20240" y="530352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AV-uitnodiging + campagneresultaat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920240" y="5669280"/>
            <a:ext cx="9784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"Dankzij u hebben we X opgehaald." Laatste e-mail vóór 9 mei — maak de CTA telt.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Bronsgroen CV · Bestuursvergadering 15/04/2026 · Pagina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884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BRONSGROEN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137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Bestuursvergadering 15/04/2026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Pers-strategie voortzetten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HBVL-artikel heeft gewerkt — wat nu?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11430000" cy="2103120"/>
          </a:xfrm>
          <a:prstGeom prst="roundRect">
            <a:avLst>
              <a:gd name="adj" fmla="val 4348"/>
            </a:avLst>
          </a:prstGeom>
          <a:solidFill>
            <a:srgbClr val="0A2E1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488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8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VASTSTELLING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10972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Persbericht 10/04 kondigde het bereiken van €1M kapitaal aan. HBVL pikte dit op (artikel ma 13/04, 23u). Di 14/04 — eerste werkdag — 3 aankopen voor €750, waarvan 2 niet in onze e-maillijsten. Pers bereikt mensen die e-mail niet bereikt.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4389120"/>
            <a:ext cx="365760" cy="365760"/>
          </a:xfrm>
          <a:prstGeom prst="ellipse">
            <a:avLst/>
          </a:prstGeom>
          <a:solidFill>
            <a:srgbClr val="0F884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389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429768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 op 9 mei = natuurlijke persankeer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46177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Persbericht 2 weken voor AV met campagneresultaat + nieuwe mijlpaal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5120640"/>
            <a:ext cx="365760" cy="365760"/>
          </a:xfrm>
          <a:prstGeom prst="ellipse">
            <a:avLst/>
          </a:prstGeom>
          <a:solidFill>
            <a:srgbClr val="0F8843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5120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50292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Genk-Zuid project als tweede momentum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53492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Lokale media (Het Belang, De Standaard regio, TV Limburg) voor projectspecifiek verhaal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5852160"/>
            <a:ext cx="365760" cy="365760"/>
          </a:xfrm>
          <a:prstGeom prst="ellipse">
            <a:avLst/>
          </a:prstGeom>
          <a:solidFill>
            <a:srgbClr val="0F8843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5852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576072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HBVL opvolging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60807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Journalist bedanken, follow-up aanbieden over AV-resultaten en burgerparticipatie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Bronsgroen CV · Bestuursvergadering 15/04/2026 · Pagina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884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BRONSGROEN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137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Bestuursvergadering 15/04/2026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Vragen aan het bestuur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Beslispunten voor 15/04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11430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F88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8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188720" y="219456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Goedkeuring uitbreiden Coöperanten-lijst?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256032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 welke criteria moeten bestaande coöperanten voldoen om automatisch in marketing-e-mails te komen? Nu zitten we op 672 terwijl we 746 actieve leden hebben.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154680"/>
            <a:ext cx="11430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F88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337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8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1188720" y="32461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Budget voor vervolg HBVL-momentum?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3611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Voorstel: 2e persbericht rond AV-uitkomst (mei), 3e rond Genk-Zuid start. Kleine PR-agent inschakelen of zelf doen?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4206240"/>
            <a:ext cx="11430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F88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8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1188720" y="429768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Genk-Zuid lanceringsdatum E2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466344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Campagne E2 staat klaar voor 30 april. Bevestigen of bestuur akkoord is met pricing en project-timeline vóór verzending.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5257800"/>
            <a:ext cx="11430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F88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5440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8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1188720" y="53492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Koude sympathisanten: doorzetten of pauzeren?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88720" y="571500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1,5% CTR en 3 uitschrijvingen op E1. Moeten we sympathisanten-flow heropbouwen met nurture-reeks i.p.v. directe verkoop?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Bronsgroen CV · Bestuursvergadering 15/04/2026 · Pagina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2191695" cy="73152"/>
          </a:xfrm>
          <a:prstGeom prst="rect">
            <a:avLst/>
          </a:prstGeom>
          <a:solidFill>
            <a:srgbClr val="0F8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Samen naar een groenere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Limburgse energietoekomst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Bedankt voor uw aandacht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5943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8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Wouter Hermans  ·  wouter.hermans@bronsgroen.be  ·  opencoop.be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2026-04-14T09:15:05Z</dcterms:created>
  <dcterms:modified xsi:type="dcterms:W3CDTF">2026-04-14T09:15:05Z</dcterms:modified>
</cp:coreProperties>
</file>